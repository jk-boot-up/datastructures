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1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EF1F7"/>
                </a:solidFill>
                <a:latin typeface="Calibri"/>
              </a:rPr>
              <a:t>Singly Linked List — reverse()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AA6C2"/>
                </a:solidFill>
                <a:latin typeface="Calibri"/>
              </a:rPr>
              <a:t>An interactive walkthrough of building and reversing a singly linked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DA3FF"/>
                </a:solidFill>
                <a:latin typeface="Consolas"/>
              </a:rPr>
              <a:t>com.jk.explore.dsa.linkedlists.single.reverse.LinkedList&lt;T&gt;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2194560" cy="5715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1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EF1F7"/>
                </a:solidFill>
                <a:latin typeface="Calibr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1064240" cy="3175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>
                <a:solidFill>
                  <a:srgbClr val="EEF1F7"/>
                </a:solidFill>
                <a:latin typeface="Calibri"/>
              </a:rPr>
              <a:t>•  The LinkedList&lt;T&gt; / Node&lt;T&gt; structure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EEF1F7"/>
                </a:solidFill>
                <a:latin typeface="Calibri"/>
              </a:rPr>
              <a:t>•  Building a list — addFirst, addLast, add(index, data)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EEF1F7"/>
                </a:solidFill>
                <a:latin typeface="Calibri"/>
              </a:rPr>
              <a:t>•  reverse() — control flow and complexity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EEF1F7"/>
                </a:solidFill>
                <a:latin typeface="Calibri"/>
              </a:rPr>
              <a:t>•  Frame-by-frame trace of reverse() on [1, 2, 3]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EEF1F7"/>
                </a:solidFill>
                <a:latin typeface="Calibri"/>
              </a:rPr>
              <a:t>•  Other operations at a glance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EEF1F7"/>
                </a:solidFill>
                <a:latin typeface="Calibri"/>
              </a:rPr>
              <a:t>•  Live demo — linked-list-reverse-demo.html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6C2"/>
                </a:solidFill>
                <a:latin typeface="Calibri"/>
              </a:rPr>
              <a:t>docs/linked-list-reverse-demo.html   ·   docs/LinkedList-Reverse-Diagrams.md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1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EF1F7"/>
                </a:solidFill>
                <a:latin typeface="Calibri"/>
              </a:rPr>
              <a:t>The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6C2"/>
                </a:solidFill>
                <a:latin typeface="Calibri"/>
              </a:rPr>
              <a:t>Two classes: a thin wrapper (head/tail/size) around a chain of nodes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3175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361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A6C2"/>
                </a:solidFill>
                <a:latin typeface="Calibri"/>
              </a:rPr>
              <a:t>A list of [1, 2, 3] before reversal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965960"/>
            <a:ext cx="4206240" cy="196596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8575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000" b="1">
                <a:solidFill>
                  <a:srgbClr val="EEF1F7"/>
                </a:solidFill>
                <a:latin typeface="Consolas"/>
              </a:rPr>
              <a:t/>
            </a:r>
            <a:r>
              <a:rPr b="1" sz="1900">
                <a:solidFill>
                  <a:srgbClr val="4DA3FF"/>
                </a:solidFill>
                <a:latin typeface="Consolas"/>
              </a:rPr>
              <a:t>LinkedList&lt;T&gt;</a:t>
            </a:r>
          </a:p>
          <a:p>
            <a:r>
              <a:rPr sz="1300">
                <a:solidFill>
                  <a:srgbClr val="EEF1F7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EEF1F7"/>
                </a:solidFill>
                <a:latin typeface="Consolas"/>
              </a:rPr>
              <a:t>- head: Node&lt;T&gt;</a:t>
            </a:r>
          </a:p>
          <a:p>
            <a:r>
              <a:rPr sz="1300">
                <a:solidFill>
                  <a:srgbClr val="EEF1F7"/>
                </a:solidFill>
                <a:latin typeface="Consolas"/>
              </a:rPr>
              <a:t>- tail: Node&lt;T&gt;</a:t>
            </a:r>
          </a:p>
          <a:p>
            <a:r>
              <a:rPr sz="1300">
                <a:solidFill>
                  <a:srgbClr val="EEF1F7"/>
                </a:solidFill>
                <a:latin typeface="Consolas"/>
              </a:rPr>
              <a:t>- size: int</a:t>
            </a:r>
          </a:p>
          <a:p>
            <a:r>
              <a:rPr sz="1300">
                <a:solidFill>
                  <a:srgbClr val="EEF1F7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EEF1F7"/>
                </a:solidFill>
                <a:latin typeface="Consolas"/>
              </a:rPr>
              <a:t>+ addFirst / addLast</a:t>
            </a:r>
          </a:p>
          <a:p>
            <a:r>
              <a:rPr sz="1300">
                <a:solidFill>
                  <a:srgbClr val="EEF1F7"/>
                </a:solidFill>
                <a:latin typeface="Consolas"/>
              </a:rPr>
              <a:t>+ add(index, data)</a:t>
            </a:r>
          </a:p>
          <a:p>
            <a:r>
              <a:rPr sz="1300">
                <a:solidFill>
                  <a:srgbClr val="EEF1F7"/>
                </a:solidFill>
                <a:latin typeface="Consolas"/>
              </a:rPr>
              <a:t>+ reverse()</a:t>
            </a:r>
          </a:p>
          <a:p>
            <a:r>
              <a:rPr sz="1300">
                <a:solidFill>
                  <a:srgbClr val="EEF1F7"/>
                </a:solidFill>
                <a:latin typeface="Consolas"/>
              </a:rPr>
              <a:t>+ isEmpty / getSize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286000"/>
            <a:ext cx="3291840" cy="132588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8575">
            <a:solidFill>
              <a:srgbClr val="4FD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000" b="1">
                <a:solidFill>
                  <a:srgbClr val="EEF1F7"/>
                </a:solidFill>
                <a:latin typeface="Consolas"/>
              </a:rPr>
              <a:t/>
            </a:r>
            <a:r>
              <a:rPr b="1" sz="1900">
                <a:solidFill>
                  <a:srgbClr val="4FD9A0"/>
                </a:solidFill>
                <a:latin typeface="Consolas"/>
              </a:rPr>
              <a:t>Node&lt;T&gt;</a:t>
            </a:r>
          </a:p>
          <a:p>
            <a:r>
              <a:rPr sz="1300">
                <a:solidFill>
                  <a:srgbClr val="EEF1F7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EEF1F7"/>
                </a:solidFill>
                <a:latin typeface="Consolas"/>
              </a:rPr>
              <a:t>- data: T</a:t>
            </a:r>
          </a:p>
          <a:p>
            <a:r>
              <a:rPr sz="1300">
                <a:solidFill>
                  <a:srgbClr val="EEF1F7"/>
                </a:solidFill>
                <a:latin typeface="Consolas"/>
              </a:rPr>
              <a:t>- next: Node&lt;T&gt;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0" y="2944368"/>
            <a:ext cx="1554480" cy="0"/>
          </a:xfrm>
          <a:prstGeom prst="line">
            <a:avLst/>
          </a:prstGeom>
          <a:ln w="28575">
            <a:solidFill>
              <a:srgbClr val="9AA6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49240" y="26243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6C2"/>
                </a:solidFill>
                <a:latin typeface="Calibri"/>
              </a:rPr>
              <a:t>links 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92727" y="521208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2225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2727" y="49194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5567" y="59984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47007" y="459028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head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47207" y="521208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2225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47207" y="49194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0047" y="59984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01687" y="521208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2225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1687" y="49194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4527" y="59984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null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55967" y="459028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9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tail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6C2"/>
                </a:solidFill>
                <a:latin typeface="Calibri"/>
              </a:rPr>
              <a:t>Section 1 — Structure  ·  LinkedList-Reverse-Diagrams.md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1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EF1F7"/>
                </a:solidFill>
                <a:latin typeface="Calibri"/>
              </a:rPr>
              <a:t>reverse() — Control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6C2"/>
                </a:solidFill>
                <a:latin typeface="Calibri"/>
              </a:rPr>
              <a:t>Classic iterative 3-pointer reversal: prev, cursor, and a saved post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3175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6492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EEF1F7"/>
                </a:solidFill>
                <a:latin typeface="Calibri"/>
              </a:rPr>
              <a:t>•  isEmpty()?  → return (nothing to do)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EEF1F7"/>
                </a:solidFill>
                <a:latin typeface="Calibri"/>
              </a:rPr>
              <a:t>•  size == 1?  → return (single node is its own reverse)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EEF1F7"/>
                </a:solidFill>
                <a:latin typeface="Calibri"/>
              </a:rPr>
              <a:t>•  Init: cursor = head, prev = null; save oldHead / oldTail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EEF1F7"/>
                </a:solidFill>
                <a:latin typeface="Calibri"/>
              </a:rPr>
              <a:t>•  While cursor != null: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9AA6C2"/>
                </a:solidFill>
                <a:latin typeface="Calibri"/>
              </a:rPr>
              <a:t>•     post = cursor.next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9AA6C2"/>
                </a:solidFill>
                <a:latin typeface="Calibri"/>
              </a:rPr>
              <a:t>•     cursor.next = prev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9AA6C2"/>
                </a:solidFill>
                <a:latin typeface="Calibri"/>
              </a:rPr>
              <a:t>•     prev = cursor; cursor = post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EEF1F7"/>
                </a:solidFill>
                <a:latin typeface="Calibri"/>
              </a:rPr>
              <a:t>•  head = oldTail; tail = oldHead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828800"/>
            <a:ext cx="3931920" cy="310896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2225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000" b="1">
                <a:solidFill>
                  <a:srgbClr val="EEF1F7"/>
                </a:solidFill>
                <a:latin typeface="Consolas"/>
              </a:rPr>
              <a:t/>
            </a:r>
            <a:r>
              <a:rPr b="1" sz="1800">
                <a:solidFill>
                  <a:srgbClr val="EEF1F7"/>
                </a:solidFill>
              </a:rPr>
              <a:t>Time / Space</a:t>
            </a:r>
          </a:p>
          <a:p>
            <a:r>
              <a:rPr sz="1600">
                <a:solidFill>
                  <a:srgbClr val="9AA6C2"/>
                </a:solidFill>
              </a:rPr>
              <a:t>Time: </a:t>
            </a:r>
            <a:r>
              <a:rPr sz="1600" b="1">
                <a:solidFill>
                  <a:srgbClr val="4FD9A0"/>
                </a:solidFill>
              </a:rPr>
              <a:t>O(n)</a:t>
            </a:r>
          </a:p>
          <a:p>
            <a:r>
              <a:rPr sz="1300" i="1">
                <a:solidFill>
                  <a:srgbClr val="9AA6C2"/>
                </a:solidFill>
              </a:rPr>
              <a:t>each node visited once</a:t>
            </a:r>
          </a:p>
          <a:p>
            <a:r>
              <a:rPr sz="1600">
                <a:solidFill>
                  <a:srgbClr val="9AA6C2"/>
                </a:solidFill>
              </a:rPr>
              <a:t>Space: </a:t>
            </a:r>
            <a:r>
              <a:rPr sz="1600" b="1">
                <a:solidFill>
                  <a:srgbClr val="4FD9A0"/>
                </a:solidFill>
              </a:rPr>
              <a:t>O(1)</a:t>
            </a:r>
          </a:p>
          <a:p>
            <a:r>
              <a:rPr sz="1300" i="1">
                <a:solidFill>
                  <a:srgbClr val="9AA6C2"/>
                </a:solidFill>
              </a:rPr>
              <a:t>fixed pointers, no extra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6C2"/>
                </a:solidFill>
                <a:latin typeface="Calibri"/>
              </a:rPr>
              <a:t>Section 2 — Control flow  ·  LinkedList-Reverse-Diagrams.md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1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EF1F7"/>
                </a:solidFill>
                <a:latin typeface="Calibri"/>
              </a:rPr>
              <a:t>reverse() —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6C2"/>
                </a:solidFill>
                <a:latin typeface="Calibri"/>
              </a:rPr>
              <a:t>The exact method the demo animates, line by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3175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1737360"/>
            <a:ext cx="9601200" cy="4480560"/>
          </a:xfrm>
          <a:prstGeom prst="roundRect">
            <a:avLst>
              <a:gd name="adj" fmla="val 3000"/>
            </a:avLst>
          </a:prstGeom>
          <a:solidFill>
            <a:srgbClr val="2C3549"/>
          </a:solidFill>
          <a:ln w="19050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91440"/>
          <a:lstStyle/>
          <a:p>
            <a:pPr algn="ctr"/>
            <a:r>
              <a:rPr sz="1600" b="0">
                <a:solidFill>
                  <a:srgbClr val="EEF1F7"/>
                </a:solidFill>
                <a:latin typeface="Consolas"/>
              </a:rPr>
              <a:t>public void reverse() {</a:t>
            </a:r>
          </a:p>
          <a:p>
            <a:r>
              <a:rPr sz="1600" b="0">
                <a:solidFill>
                  <a:srgbClr val="EEF1F7"/>
                </a:solidFill>
                <a:latin typeface="Consolas"/>
              </a:rPr>
              <a:t>    if (isEmpty()) { return; }</a:t>
            </a:r>
          </a:p>
          <a:p>
            <a:r>
              <a:rPr sz="1600" b="0">
                <a:solidFill>
                  <a:srgbClr val="EEF1F7"/>
                </a:solidFill>
                <a:latin typeface="Consolas"/>
              </a:rPr>
              <a:t>    if (size == 1) { return; }</a:t>
            </a:r>
          </a:p>
          <a:p>
            <a:r>
              <a:rPr sz="1600" b="0">
                <a:solidFill>
                  <a:srgbClr val="EEF1F7"/>
                </a:solidFill>
                <a:latin typeface="Consolas"/>
              </a:rPr>
              <a:t>    Node&lt;T&gt; cursorNode = head;</a:t>
            </a:r>
          </a:p>
          <a:p>
            <a:r>
              <a:rPr sz="1600" b="0">
                <a:solidFill>
                  <a:srgbClr val="EEF1F7"/>
                </a:solidFill>
                <a:latin typeface="Consolas"/>
              </a:rPr>
              <a:t>    Node&lt;T&gt; preCursorNode = null;</a:t>
            </a:r>
          </a:p>
          <a:p>
            <a:r>
              <a:rPr sz="1600" b="0">
                <a:solidFill>
                  <a:srgbClr val="EEF1F7"/>
                </a:solidFill>
                <a:latin typeface="Consolas"/>
              </a:rPr>
              <a:t>    Node&lt;T&gt; postCursorNode = null;</a:t>
            </a:r>
          </a:p>
          <a:p>
            <a:r>
              <a:rPr sz="1600" b="0">
                <a:solidFill>
                  <a:srgbClr val="EEF1F7"/>
                </a:solidFill>
                <a:latin typeface="Consolas"/>
              </a:rPr>
              <a:t>    Node&lt;T&gt; oldHeadNode = head;</a:t>
            </a:r>
          </a:p>
          <a:p>
            <a:r>
              <a:rPr sz="1600" b="0">
                <a:solidFill>
                  <a:srgbClr val="EEF1F7"/>
                </a:solidFill>
                <a:latin typeface="Consolas"/>
              </a:rPr>
              <a:t>    Node&lt;T&gt; oldTailNode = tail;</a:t>
            </a:r>
          </a:p>
          <a:p>
            <a:r>
              <a:rPr sz="1600" b="0">
                <a:solidFill>
                  <a:srgbClr val="EEF1F7"/>
                </a:solidFill>
                <a:latin typeface="Consolas"/>
              </a:rPr>
              <a:t>    while (cursorNode != null) {</a:t>
            </a:r>
          </a:p>
          <a:p>
            <a:r>
              <a:rPr sz="1600" b="1">
                <a:solidFill>
                  <a:srgbClr val="FF6B81"/>
                </a:solidFill>
                <a:latin typeface="Consolas"/>
              </a:rPr>
              <a:t>        postCursorNode = cursorNode.next;</a:t>
            </a:r>
          </a:p>
          <a:p>
            <a:r>
              <a:rPr sz="1600" b="1">
                <a:solidFill>
                  <a:srgbClr val="FF6B81"/>
                </a:solidFill>
                <a:latin typeface="Consolas"/>
              </a:rPr>
              <a:t>        cursorNode.next = preCursorNode;</a:t>
            </a:r>
          </a:p>
          <a:p>
            <a:r>
              <a:rPr sz="1600" b="1">
                <a:solidFill>
                  <a:srgbClr val="FF6B81"/>
                </a:solidFill>
                <a:latin typeface="Consolas"/>
              </a:rPr>
              <a:t>        preCursorNode = cursorNode;</a:t>
            </a:r>
          </a:p>
          <a:p>
            <a:r>
              <a:rPr sz="1600" b="1">
                <a:solidFill>
                  <a:srgbClr val="FF6B81"/>
                </a:solidFill>
                <a:latin typeface="Consolas"/>
              </a:rPr>
              <a:t>        cursorNode = postCursorNode;</a:t>
            </a:r>
          </a:p>
          <a:p>
            <a:r>
              <a:rPr sz="1600" b="0">
                <a:solidFill>
                  <a:srgbClr val="EEF1F7"/>
                </a:solidFill>
                <a:latin typeface="Consolas"/>
              </a:rPr>
              <a:t>    }</a:t>
            </a:r>
          </a:p>
          <a:p>
            <a:r>
              <a:rPr sz="1600" b="0">
                <a:solidFill>
                  <a:srgbClr val="EEF1F7"/>
                </a:solidFill>
                <a:latin typeface="Consolas"/>
              </a:rPr>
              <a:t>    head = oldTailNode;</a:t>
            </a:r>
          </a:p>
          <a:p>
            <a:r>
              <a:rPr sz="1600" b="0">
                <a:solidFill>
                  <a:srgbClr val="EEF1F7"/>
                </a:solidFill>
                <a:latin typeface="Consolas"/>
              </a:rPr>
              <a:t>    tail = oldHeadNode;</a:t>
            </a:r>
          </a:p>
          <a:p>
            <a:r>
              <a:rPr sz="1600" b="0">
                <a:solidFill>
                  <a:srgbClr val="EEF1F7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6C2"/>
                </a:solidFill>
                <a:latin typeface="Calibri"/>
              </a:rPr>
              <a:t>src/main/java/.../reverse/LinkedList.java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1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EF1F7"/>
                </a:solidFill>
                <a:latin typeface="Calibri"/>
              </a:rPr>
              <a:t>Frame 0 — before the loop starts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1064240" cy="3175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AA6C2"/>
                </a:solidFill>
                <a:latin typeface="Calibri"/>
              </a:rPr>
              <a:t>prev = null, cursor =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184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2225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84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12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2687" y="257860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72687" y="21945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cursor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472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2225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72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00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760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2225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60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8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null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0287" y="257860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9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tail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6C2"/>
                </a:solidFill>
                <a:latin typeface="Calibri"/>
              </a:rPr>
              <a:t>Section 3 — Frame-by-frame trace  ·  LinkedList-Reverse-Diagrams.md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1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EF1F7"/>
                </a:solidFill>
                <a:latin typeface="Calibri"/>
              </a:rPr>
              <a:t>Frame 1 — after processing node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1064240" cy="3175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AA6C2"/>
                </a:solidFill>
                <a:latin typeface="Calibri"/>
              </a:rPr>
              <a:t>cursor.next = prev rewired node 1.  prev = 1, cursor =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184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41275">
            <a:solidFill>
              <a:srgbClr val="FF6B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84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12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null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2687" y="257860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72687" y="21945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4F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prev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472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2225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72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00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01487" y="257860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cursor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60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2225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60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88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null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30287" y="257860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9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6B81"/>
                </a:solidFill>
                <a:latin typeface="Calibri"/>
              </a:rPr>
              <a:t>Red border = the next pointer that just changed this frame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6C2"/>
                </a:solidFill>
                <a:latin typeface="Calibri"/>
              </a:rPr>
              <a:t>Section 3 — Frame-by-frame trace  ·  LinkedList-Reverse-Diagrams.md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1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EF1F7"/>
                </a:solidFill>
                <a:latin typeface="Calibri"/>
              </a:rPr>
              <a:t>Frame 2 — after processing node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1064240" cy="3175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AA6C2"/>
                </a:solidFill>
                <a:latin typeface="Calibri"/>
              </a:rPr>
              <a:t>prev = 2, cursor =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184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2225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84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12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null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2687" y="257860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472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41275">
            <a:solidFill>
              <a:srgbClr val="FF6B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472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00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01487" y="257860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4F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prev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760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2225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60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8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null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0287" y="257860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9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tail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30287" y="21945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cursor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6B81"/>
                </a:solidFill>
                <a:latin typeface="Calibri"/>
              </a:rPr>
              <a:t>Red border = the next pointer that just changed this frame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6C2"/>
                </a:solidFill>
                <a:latin typeface="Calibri"/>
              </a:rPr>
              <a:t>Section 3 — Frame-by-frame trace  ·  LinkedList-Reverse-Diagrams.md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1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EF1F7"/>
                </a:solidFill>
                <a:latin typeface="Calibri"/>
              </a:rPr>
              <a:t>Frame 3 — after processing node 3 (loop exits)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1064240" cy="3175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AA6C2"/>
                </a:solidFill>
                <a:latin typeface="Calibri"/>
              </a:rPr>
              <a:t>prev = 3, cursor = null — every node has been relinked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184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2225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84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12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null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2687" y="257860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472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2225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472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00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760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41275">
            <a:solidFill>
              <a:srgbClr val="FF6B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60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88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30287" y="257860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9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tail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30287" y="21945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4F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prev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6B81"/>
                </a:solidFill>
                <a:latin typeface="Calibri"/>
              </a:rPr>
              <a:t>Red border = the next pointer that just changed this frame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6C2"/>
                </a:solidFill>
                <a:latin typeface="Calibri"/>
              </a:rPr>
              <a:t>Section 3 — Frame-by-frame trace  ·  LinkedList-Reverse-Diagrams.md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1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EF1F7"/>
                </a:solidFill>
                <a:latin typeface="Calibri"/>
              </a:rPr>
              <a:t>Frame 4 — after head = oldTail; tail = oldHead;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1064240" cy="3175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AA6C2"/>
                </a:solidFill>
                <a:latin typeface="Calibri"/>
              </a:rPr>
              <a:t>head = 3, tail = 1 — next values unchanged, only head/tail swapped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184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2225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84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12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null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2687" y="257860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9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tail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472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2225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472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00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760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2225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60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88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30287" y="257860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6C2"/>
                </a:solidFill>
                <a:latin typeface="Calibri"/>
              </a:rPr>
              <a:t>Section 3 — Frame-by-frame trace  ·  LinkedList-Reverse-Diagrams.md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1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EF1F7"/>
                </a:solidFill>
                <a:latin typeface="Calibri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6C2"/>
                </a:solidFill>
                <a:latin typeface="Calibri"/>
              </a:rPr>
              <a:t>Same three nodes, same columns as Frame 4 — only head/tail moved, next pointers now run right-to-left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3175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7184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2225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84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812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null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2687" y="257860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9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tail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472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2225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472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00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760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2225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60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88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30287" y="257860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94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EF1F7"/>
                </a:solidFill>
                <a:latin typeface="Calibri"/>
              </a:rPr>
              <a:t>Reading from head (idx 2) forward: 3 → 2 → 1 → null.  [1, 2, 3] has logically become [3, 2, 1].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6C2"/>
                </a:solidFill>
                <a:latin typeface="Calibri"/>
              </a:rPr>
              <a:t>Section 3 — Frame-by-frame trace  ·  LinkedList-Reverse-Diagrams.md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1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EF1F7"/>
                </a:solidFill>
                <a:latin typeface="Calibri"/>
              </a:rPr>
              <a:t>addFirst(0)  —  O(1)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6C2"/>
                </a:solidFill>
                <a:latin typeface="Calibri"/>
              </a:rPr>
              <a:t>Only head moves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3175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040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41275">
            <a:solidFill>
              <a:srgbClr val="4FD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40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68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58287" y="257860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58287" y="21945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4F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new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28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2225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28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56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2225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904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2225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4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32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null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4687" y="257860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9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tail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6C2"/>
                </a:solidFill>
                <a:latin typeface="Calibri"/>
              </a:rPr>
              <a:t>Section 4 — Other operations at a glance  ·  LinkedList-Reverse-Diagrams.md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1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EF1F7"/>
                </a:solidFill>
                <a:latin typeface="Calibri"/>
              </a:rPr>
              <a:t>addLast(4)  —  O(1)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6C2"/>
                </a:solidFill>
                <a:latin typeface="Calibri"/>
              </a:rPr>
              <a:t>Only tail moves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3175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040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2225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40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68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58287" y="257860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28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2225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28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56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616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2225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04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41275">
            <a:solidFill>
              <a:srgbClr val="4FD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4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32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null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44687" y="257860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9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tail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4687" y="21945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4F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new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6C2"/>
                </a:solidFill>
                <a:latin typeface="Calibri"/>
              </a:rPr>
              <a:t>Section 4 — Other operations at a glance  ·  LinkedList-Reverse-Diagrams.md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1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EF1F7"/>
                </a:solidFill>
                <a:latin typeface="Calibri"/>
              </a:rPr>
              <a:t>add(1, 99)  —  O(n)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6C2"/>
                </a:solidFill>
                <a:latin typeface="Calibri"/>
              </a:rPr>
              <a:t>Walks from head to index 1 first; head/tail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3175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040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2225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40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68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99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58287" y="257860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28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41275">
            <a:solidFill>
              <a:srgbClr val="4FD9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28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56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87087" y="257860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4F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new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2225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90407" y="3200400"/>
            <a:ext cx="1097280" cy="731520"/>
          </a:xfrm>
          <a:prstGeom prst="roundRect">
            <a:avLst>
              <a:gd name="adj" fmla="val 18000"/>
            </a:avLst>
          </a:prstGeom>
          <a:solidFill>
            <a:srgbClr val="242C40"/>
          </a:solidFill>
          <a:ln w="22225">
            <a:solidFill>
              <a:srgbClr val="4A55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200" b="1">
                <a:solidFill>
                  <a:srgbClr val="EEF1F7"/>
                </a:solidFill>
                <a:latin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407" y="290779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A6C2"/>
                </a:solidFill>
                <a:latin typeface="Calibri"/>
              </a:rPr>
              <a:t>idx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3247" y="39867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A6C2"/>
                </a:solidFill>
                <a:latin typeface="Calibri"/>
              </a:rPr>
              <a:t>next: null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4687" y="257860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9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0141F"/>
                </a:solidFill>
                <a:latin typeface="Calibri"/>
              </a:rPr>
              <a:t>tail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6C2"/>
                </a:solidFill>
                <a:latin typeface="Calibri"/>
              </a:rPr>
              <a:t>Section 4 — Other operations at a glance  ·  LinkedList-Reverse-Diagrams.md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1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EF1F7"/>
                </a:solidFill>
                <a:latin typeface="Calibri"/>
              </a:rPr>
              <a:t>Complexity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1064240" cy="3175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698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280160"/>
                <a:gridCol w="1280160"/>
                <a:gridCol w="5212080"/>
              </a:tblGrid>
              <a:tr h="5257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4DA3FF"/>
                          </a:solidFill>
                          <a:latin typeface="Consolas"/>
                        </a:rPr>
                        <a:t>Method</a:t>
                      </a:r>
                    </a:p>
                  </a:txBody>
                  <a:tcPr marL="91440" marR="91440">
                    <a:solidFill>
                      <a:srgbClr val="2C35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4DA3FF"/>
                          </a:solidFill>
                          <a:latin typeface="Consolas"/>
                        </a:rPr>
                        <a:t>Time</a:t>
                      </a:r>
                    </a:p>
                  </a:txBody>
                  <a:tcPr marL="91440" marR="91440">
                    <a:solidFill>
                      <a:srgbClr val="2C35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4DA3FF"/>
                          </a:solidFill>
                          <a:latin typeface="Consolas"/>
                        </a:rPr>
                        <a:t>Space</a:t>
                      </a:r>
                    </a:p>
                  </a:txBody>
                  <a:tcPr marL="91440" marR="91440">
                    <a:solidFill>
                      <a:srgbClr val="2C354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4DA3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91440" marR="91440">
                    <a:solidFill>
                      <a:srgbClr val="2C3549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1F7"/>
                          </a:solidFill>
                          <a:latin typeface="Consolas"/>
                        </a:rPr>
                        <a:t>LinkedList(T data)</a:t>
                      </a:r>
                    </a:p>
                  </a:txBody>
                  <a:tcPr marL="91440" marR="91440">
                    <a:solidFill>
                      <a:srgbClr val="242C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1F7"/>
                          </a:solidFill>
                          <a:latin typeface="Consolas"/>
                        </a:rPr>
                        <a:t>O(1)</a:t>
                      </a:r>
                    </a:p>
                  </a:txBody>
                  <a:tcPr marL="91440" marR="91440">
                    <a:solidFill>
                      <a:srgbClr val="242C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1F7"/>
                          </a:solidFill>
                          <a:latin typeface="Consolas"/>
                        </a:rPr>
                        <a:t>O(1)</a:t>
                      </a:r>
                    </a:p>
                  </a:txBody>
                  <a:tcPr marL="91440" marR="91440">
                    <a:solidFill>
                      <a:srgbClr val="242C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1F7"/>
                          </a:solidFill>
                          <a:latin typeface="Calibri"/>
                        </a:rPr>
                        <a:t>one node allocated</a:t>
                      </a:r>
                    </a:p>
                  </a:txBody>
                  <a:tcPr marL="91440" marR="91440">
                    <a:solidFill>
                      <a:srgbClr val="242C40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1F7"/>
                          </a:solidFill>
                          <a:latin typeface="Consolas"/>
                        </a:rPr>
                        <a:t>add / addLast</a:t>
                      </a:r>
                    </a:p>
                  </a:txBody>
                  <a:tcPr marL="91440" marR="91440">
                    <a:solidFill>
                      <a:srgbClr val="242C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1F7"/>
                          </a:solidFill>
                          <a:latin typeface="Consolas"/>
                        </a:rPr>
                        <a:t>O(1)</a:t>
                      </a:r>
                    </a:p>
                  </a:txBody>
                  <a:tcPr marL="91440" marR="91440">
                    <a:solidFill>
                      <a:srgbClr val="242C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1F7"/>
                          </a:solidFill>
                          <a:latin typeface="Consolas"/>
                        </a:rPr>
                        <a:t>O(1)</a:t>
                      </a:r>
                    </a:p>
                  </a:txBody>
                  <a:tcPr marL="91440" marR="91440">
                    <a:solidFill>
                      <a:srgbClr val="242C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1F7"/>
                          </a:solidFill>
                          <a:latin typeface="Calibri"/>
                        </a:rPr>
                        <a:t>tail pointer avoids traversal</a:t>
                      </a:r>
                    </a:p>
                  </a:txBody>
                  <a:tcPr marL="91440" marR="91440">
                    <a:solidFill>
                      <a:srgbClr val="242C40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1F7"/>
                          </a:solidFill>
                          <a:latin typeface="Consolas"/>
                        </a:rPr>
                        <a:t>addFirst</a:t>
                      </a:r>
                    </a:p>
                  </a:txBody>
                  <a:tcPr marL="91440" marR="91440">
                    <a:solidFill>
                      <a:srgbClr val="242C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1F7"/>
                          </a:solidFill>
                          <a:latin typeface="Consolas"/>
                        </a:rPr>
                        <a:t>O(1)</a:t>
                      </a:r>
                    </a:p>
                  </a:txBody>
                  <a:tcPr marL="91440" marR="91440">
                    <a:solidFill>
                      <a:srgbClr val="242C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1F7"/>
                          </a:solidFill>
                          <a:latin typeface="Consolas"/>
                        </a:rPr>
                        <a:t>O(1)</a:t>
                      </a:r>
                    </a:p>
                  </a:txBody>
                  <a:tcPr marL="91440" marR="91440">
                    <a:solidFill>
                      <a:srgbClr val="242C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1F7"/>
                          </a:solidFill>
                          <a:latin typeface="Calibri"/>
                        </a:rPr>
                        <a:t>only head moves</a:t>
                      </a:r>
                    </a:p>
                  </a:txBody>
                  <a:tcPr marL="91440" marR="91440">
                    <a:solidFill>
                      <a:srgbClr val="242C40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1F7"/>
                          </a:solidFill>
                          <a:latin typeface="Consolas"/>
                        </a:rPr>
                        <a:t>add(index, data)</a:t>
                      </a:r>
                    </a:p>
                  </a:txBody>
                  <a:tcPr marL="91440" marR="91440">
                    <a:solidFill>
                      <a:srgbClr val="242C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1F7"/>
                          </a:solidFill>
                          <a:latin typeface="Consolas"/>
                        </a:rPr>
                        <a:t>O(n)</a:t>
                      </a:r>
                    </a:p>
                  </a:txBody>
                  <a:tcPr marL="91440" marR="91440">
                    <a:solidFill>
                      <a:srgbClr val="242C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1F7"/>
                          </a:solidFill>
                          <a:latin typeface="Consolas"/>
                        </a:rPr>
                        <a:t>O(1)</a:t>
                      </a:r>
                    </a:p>
                  </a:txBody>
                  <a:tcPr marL="91440" marR="91440">
                    <a:solidFill>
                      <a:srgbClr val="242C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1F7"/>
                          </a:solidFill>
                          <a:latin typeface="Calibri"/>
                        </a:rPr>
                        <a:t>O(1) at the ends, else walks to index</a:t>
                      </a:r>
                    </a:p>
                  </a:txBody>
                  <a:tcPr marL="91440" marR="91440">
                    <a:solidFill>
                      <a:srgbClr val="242C40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1F7"/>
                          </a:solidFill>
                          <a:latin typeface="Consolas"/>
                        </a:rPr>
                        <a:t>reverse()</a:t>
                      </a:r>
                    </a:p>
                  </a:txBody>
                  <a:tcPr marL="91440" marR="91440">
                    <a:solidFill>
                      <a:srgbClr val="242C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1F7"/>
                          </a:solidFill>
                          <a:latin typeface="Consolas"/>
                        </a:rPr>
                        <a:t>O(n)</a:t>
                      </a:r>
                    </a:p>
                  </a:txBody>
                  <a:tcPr marL="91440" marR="91440">
                    <a:solidFill>
                      <a:srgbClr val="242C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1F7"/>
                          </a:solidFill>
                          <a:latin typeface="Consolas"/>
                        </a:rPr>
                        <a:t>O(1)</a:t>
                      </a:r>
                    </a:p>
                  </a:txBody>
                  <a:tcPr marL="91440" marR="91440">
                    <a:solidFill>
                      <a:srgbClr val="242C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1F7"/>
                          </a:solidFill>
                          <a:latin typeface="Calibri"/>
                        </a:rPr>
                        <a:t>single pass, in-place pointer flip</a:t>
                      </a:r>
                    </a:p>
                  </a:txBody>
                  <a:tcPr marL="91440" marR="91440">
                    <a:solidFill>
                      <a:srgbClr val="242C40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1F7"/>
                          </a:solidFill>
                          <a:latin typeface="Consolas"/>
                        </a:rPr>
                        <a:t>isEmpty()</a:t>
                      </a:r>
                    </a:p>
                  </a:txBody>
                  <a:tcPr marL="91440" marR="91440">
                    <a:solidFill>
                      <a:srgbClr val="242C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1F7"/>
                          </a:solidFill>
                          <a:latin typeface="Consolas"/>
                        </a:rPr>
                        <a:t>O(1)</a:t>
                      </a:r>
                    </a:p>
                  </a:txBody>
                  <a:tcPr marL="91440" marR="91440">
                    <a:solidFill>
                      <a:srgbClr val="242C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1F7"/>
                          </a:solidFill>
                          <a:latin typeface="Consolas"/>
                        </a:rPr>
                        <a:t>O(1)</a:t>
                      </a:r>
                    </a:p>
                  </a:txBody>
                  <a:tcPr marL="91440" marR="91440">
                    <a:solidFill>
                      <a:srgbClr val="242C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1F7"/>
                          </a:solidFill>
                          <a:latin typeface="Calibri"/>
                        </a:rPr>
                        <a:t>cached size field</a:t>
                      </a:r>
                    </a:p>
                  </a:txBody>
                  <a:tcPr marL="91440" marR="91440">
                    <a:solidFill>
                      <a:srgbClr val="242C40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1F7"/>
                          </a:solidFill>
                          <a:latin typeface="Consolas"/>
                        </a:rPr>
                        <a:t>toString()</a:t>
                      </a:r>
                    </a:p>
                  </a:txBody>
                  <a:tcPr marL="91440" marR="91440">
                    <a:solidFill>
                      <a:srgbClr val="242C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1F7"/>
                          </a:solidFill>
                          <a:latin typeface="Consolas"/>
                        </a:rPr>
                        <a:t>O(n)</a:t>
                      </a:r>
                    </a:p>
                  </a:txBody>
                  <a:tcPr marL="91440" marR="91440">
                    <a:solidFill>
                      <a:srgbClr val="242C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1F7"/>
                          </a:solidFill>
                          <a:latin typeface="Consolas"/>
                        </a:rPr>
                        <a:t>O(n)</a:t>
                      </a:r>
                    </a:p>
                  </a:txBody>
                  <a:tcPr marL="91440" marR="91440">
                    <a:solidFill>
                      <a:srgbClr val="242C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EF1F7"/>
                          </a:solidFill>
                          <a:latin typeface="Calibri"/>
                        </a:rPr>
                        <a:t>string proportional to node count</a:t>
                      </a:r>
                    </a:p>
                  </a:txBody>
                  <a:tcPr marL="91440" marR="91440">
                    <a:solidFill>
                      <a:srgbClr val="242C4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6C2"/>
                </a:solidFill>
                <a:latin typeface="Calibri"/>
              </a:rPr>
              <a:t>Section 4 — Other operations at a glance  ·  LinkedList-Reverse-Diagrams.md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1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EF1F7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6C2"/>
                </a:solidFill>
                <a:latin typeface="Calibri"/>
              </a:rPr>
              <a:t>linked-list-reverse-demo.html — keyboard: ←/→ to step, space to play/pause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3175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EEF1F7"/>
                </a:solidFill>
                <a:latin typeface="Calibri"/>
              </a:rPr>
              <a:t>•  Open linked-list-reverse-demo.html — starts on Build &amp; Modify with the list [1]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EEF1F7"/>
                </a:solidFill>
                <a:latin typeface="Calibri"/>
              </a:rPr>
              <a:t>•  Click + addLast() twice, then + addFirst() once — watch the code panel highlight the branch that ran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EEF1F7"/>
                </a:solidFill>
                <a:latin typeface="Calibri"/>
              </a:rPr>
              <a:t>•  Click + add(middle, data) once — complexity flips to O(n), traversal loop highlighted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EEF1F7"/>
                </a:solidFill>
                <a:latin typeface="Calibri"/>
              </a:rPr>
              <a:t>•  Switch to Reverse Animation, click "demo: 5 nodes"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EEF1F7"/>
                </a:solidFill>
                <a:latin typeface="Calibri"/>
              </a:rPr>
              <a:t>•  Press → a few times — call out prev, cursor, and the red "link being rewritten" arc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EEF1F7"/>
                </a:solidFill>
                <a:latin typeface="Calibri"/>
              </a:rPr>
              <a:t>•  Click ▶ play to run end-to-end, or ⏭ to jump to the final swapped head/tail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EEF1F7"/>
                </a:solidFill>
                <a:latin typeface="Calibri"/>
              </a:rPr>
              <a:t>•  For the why: LinkedList-Reverse-Diagrams.md section 3 — the frame table matches exactly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6C2"/>
                </a:solidFill>
                <a:latin typeface="Calibri"/>
              </a:rPr>
              <a:t>docs/linked-list-reverse-demo.html  ·  docs/LinkedList-Reverse-Diagrams.md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1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EF1F7"/>
                </a:solidFill>
                <a:latin typeface="Calibri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DA3FF"/>
                </a:solidFill>
                <a:latin typeface="Consolas"/>
              </a:rPr>
              <a:t>docs/linked-list-reverse-demo.html   ·   docs/LinkedList-Reverse-Diagrams.md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